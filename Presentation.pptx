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Maven Pro" panose="020B0604020202020204" charset="0"/>
      <p:regular r:id="rId13"/>
    </p:embeddedFont>
    <p:embeddedFont>
      <p:font typeface="Maven Pro Bold" panose="020B0604020202020204" charset="0"/>
      <p:regular r:id="rId14"/>
    </p:embeddedFont>
    <p:embeddedFont>
      <p:font typeface="Times New Roman Bold" panose="02020803070505020304" pitchFamily="18" charset="0"/>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587820" y="3840802"/>
            <a:ext cx="13112360" cy="1671946"/>
          </a:xfrm>
          <a:prstGeom prst="rect">
            <a:avLst/>
          </a:prstGeom>
        </p:spPr>
        <p:txBody>
          <a:bodyPr lIns="0" tIns="0" rIns="0" bIns="0" rtlCol="0" anchor="t">
            <a:spAutoFit/>
          </a:bodyPr>
          <a:lstStyle/>
          <a:p>
            <a:pPr algn="ctr">
              <a:lnSpc>
                <a:spcPts val="11629"/>
              </a:lnSpc>
            </a:pPr>
            <a:r>
              <a:rPr lang="en-US" sz="14537" b="1">
                <a:solidFill>
                  <a:srgbClr val="252930"/>
                </a:solidFill>
                <a:latin typeface="Maven Pro Bold"/>
                <a:ea typeface="Maven Pro Bold"/>
                <a:cs typeface="Maven Pro Bold"/>
                <a:sym typeface="Maven Pro Bold"/>
              </a:rPr>
              <a:t>ISL INTO TEXT</a:t>
            </a:r>
          </a:p>
        </p:txBody>
      </p:sp>
      <p:sp>
        <p:nvSpPr>
          <p:cNvPr id="3" name="Freeform 3"/>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flipV="1">
            <a:off x="14297025" y="6296025"/>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0" y="8039083"/>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a:off x="17657548" y="293921"/>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Freeform 7"/>
          <p:cNvSpPr/>
          <p:nvPr/>
        </p:nvSpPr>
        <p:spPr>
          <a:xfrm>
            <a:off x="1028700"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9" name="Freeform 9"/>
          <p:cNvSpPr/>
          <p:nvPr/>
        </p:nvSpPr>
        <p:spPr>
          <a:xfrm flipV="1">
            <a:off x="14542983" y="-104775"/>
            <a:ext cx="2716317" cy="1358159"/>
          </a:xfrm>
          <a:custGeom>
            <a:avLst/>
            <a:gdLst/>
            <a:ahLst/>
            <a:cxnLst/>
            <a:rect l="l" t="t" r="r" b="b"/>
            <a:pathLst>
              <a:path w="2716317" h="1358159">
                <a:moveTo>
                  <a:pt x="0" y="1358159"/>
                </a:moveTo>
                <a:lnTo>
                  <a:pt x="2716317" y="1358159"/>
                </a:lnTo>
                <a:lnTo>
                  <a:pt x="2716317" y="0"/>
                </a:lnTo>
                <a:lnTo>
                  <a:pt x="0" y="0"/>
                </a:lnTo>
                <a:lnTo>
                  <a:pt x="0" y="1358159"/>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grpSp>
        <p:nvGrpSpPr>
          <p:cNvPr id="2" name="Group 2"/>
          <p:cNvGrpSpPr/>
          <p:nvPr/>
        </p:nvGrpSpPr>
        <p:grpSpPr>
          <a:xfrm>
            <a:off x="2160009" y="3429683"/>
            <a:ext cx="13967983" cy="5060039"/>
            <a:chOff x="0" y="0"/>
            <a:chExt cx="3678810" cy="1332685"/>
          </a:xfrm>
        </p:grpSpPr>
        <p:sp>
          <p:nvSpPr>
            <p:cNvPr id="3" name="Freeform 3"/>
            <p:cNvSpPr/>
            <p:nvPr/>
          </p:nvSpPr>
          <p:spPr>
            <a:xfrm>
              <a:off x="0" y="0"/>
              <a:ext cx="3678810" cy="1332685"/>
            </a:xfrm>
            <a:custGeom>
              <a:avLst/>
              <a:gdLst/>
              <a:ahLst/>
              <a:cxnLst/>
              <a:rect l="l" t="t" r="r" b="b"/>
              <a:pathLst>
                <a:path w="3678810" h="1332685">
                  <a:moveTo>
                    <a:pt x="28267" y="0"/>
                  </a:moveTo>
                  <a:lnTo>
                    <a:pt x="3650543" y="0"/>
                  </a:lnTo>
                  <a:cubicBezTo>
                    <a:pt x="3666155" y="0"/>
                    <a:pt x="3678810" y="12656"/>
                    <a:pt x="3678810" y="28267"/>
                  </a:cubicBezTo>
                  <a:lnTo>
                    <a:pt x="3678810" y="1304418"/>
                  </a:lnTo>
                  <a:cubicBezTo>
                    <a:pt x="3678810" y="1320029"/>
                    <a:pt x="3666155" y="1332685"/>
                    <a:pt x="3650543" y="1332685"/>
                  </a:cubicBezTo>
                  <a:lnTo>
                    <a:pt x="28267" y="1332685"/>
                  </a:lnTo>
                  <a:cubicBezTo>
                    <a:pt x="20770" y="1332685"/>
                    <a:pt x="13580" y="1329707"/>
                    <a:pt x="8279" y="1324406"/>
                  </a:cubicBezTo>
                  <a:cubicBezTo>
                    <a:pt x="2978" y="1319105"/>
                    <a:pt x="0" y="1311915"/>
                    <a:pt x="0" y="1304418"/>
                  </a:cubicBezTo>
                  <a:lnTo>
                    <a:pt x="0" y="28267"/>
                  </a:lnTo>
                  <a:cubicBezTo>
                    <a:pt x="0" y="12656"/>
                    <a:pt x="12656" y="0"/>
                    <a:pt x="28267" y="0"/>
                  </a:cubicBezTo>
                  <a:close/>
                </a:path>
              </a:pathLst>
            </a:custGeom>
            <a:solidFill>
              <a:srgbClr val="C0B3A0">
                <a:alpha val="20784"/>
              </a:srgbClr>
            </a:solidFill>
            <a:ln w="47625" cap="rnd">
              <a:solidFill>
                <a:srgbClr val="000000">
                  <a:alpha val="20784"/>
                </a:srgbClr>
              </a:solidFill>
              <a:prstDash val="solid"/>
              <a:round/>
            </a:ln>
          </p:spPr>
          <p:txBody>
            <a:bodyPr/>
            <a:lstStyle/>
            <a:p>
              <a:endParaRPr lang="en-IN"/>
            </a:p>
          </p:txBody>
        </p:sp>
        <p:sp>
          <p:nvSpPr>
            <p:cNvPr id="4" name="TextBox 4"/>
            <p:cNvSpPr txBox="1"/>
            <p:nvPr/>
          </p:nvSpPr>
          <p:spPr>
            <a:xfrm>
              <a:off x="0" y="-38100"/>
              <a:ext cx="3678810" cy="137078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882025" y="3950646"/>
            <a:ext cx="5236893" cy="4100313"/>
            <a:chOff x="0" y="0"/>
            <a:chExt cx="6982524" cy="5467084"/>
          </a:xfrm>
        </p:grpSpPr>
        <p:sp>
          <p:nvSpPr>
            <p:cNvPr id="6" name="TextBox 6"/>
            <p:cNvSpPr txBox="1"/>
            <p:nvPr/>
          </p:nvSpPr>
          <p:spPr>
            <a:xfrm>
              <a:off x="190500" y="-304800"/>
              <a:ext cx="6792024" cy="1117859"/>
            </a:xfrm>
            <a:prstGeom prst="rect">
              <a:avLst/>
            </a:prstGeom>
          </p:spPr>
          <p:txBody>
            <a:bodyPr lIns="0" tIns="0" rIns="0" bIns="0" rtlCol="0" anchor="t">
              <a:spAutoFit/>
            </a:bodyPr>
            <a:lstStyle/>
            <a:p>
              <a:pPr marL="872741" lvl="1" indent="-436370" algn="just">
                <a:lnSpc>
                  <a:spcPts val="8084"/>
                </a:lnSpc>
                <a:buFont typeface="Arial"/>
                <a:buChar char="•"/>
              </a:pPr>
              <a:r>
                <a:rPr lang="en-US" sz="4042">
                  <a:solidFill>
                    <a:srgbClr val="252930"/>
                  </a:solidFill>
                  <a:latin typeface="Maven Pro"/>
                  <a:ea typeface="Maven Pro"/>
                  <a:cs typeface="Maven Pro"/>
                  <a:sym typeface="Maven Pro"/>
                </a:rPr>
                <a:t>Result</a:t>
              </a:r>
            </a:p>
          </p:txBody>
        </p:sp>
        <p:sp>
          <p:nvSpPr>
            <p:cNvPr id="7" name="TextBox 7"/>
            <p:cNvSpPr txBox="1"/>
            <p:nvPr/>
          </p:nvSpPr>
          <p:spPr>
            <a:xfrm>
              <a:off x="127000" y="1246541"/>
              <a:ext cx="6792024" cy="1117859"/>
            </a:xfrm>
            <a:prstGeom prst="rect">
              <a:avLst/>
            </a:prstGeom>
          </p:spPr>
          <p:txBody>
            <a:bodyPr lIns="0" tIns="0" rIns="0" bIns="0" rtlCol="0" anchor="t">
              <a:spAutoFit/>
            </a:bodyPr>
            <a:lstStyle/>
            <a:p>
              <a:pPr marL="872741" lvl="1" indent="-436370" algn="just">
                <a:lnSpc>
                  <a:spcPts val="8084"/>
                </a:lnSpc>
                <a:buFont typeface="Arial"/>
                <a:buChar char="•"/>
              </a:pPr>
              <a:r>
                <a:rPr lang="en-US" sz="4042">
                  <a:solidFill>
                    <a:srgbClr val="252930"/>
                  </a:solidFill>
                  <a:latin typeface="Maven Pro"/>
                  <a:ea typeface="Maven Pro"/>
                  <a:cs typeface="Maven Pro"/>
                  <a:sym typeface="Maven Pro"/>
                </a:rPr>
                <a:t>Overall Analysis</a:t>
              </a:r>
            </a:p>
          </p:txBody>
        </p:sp>
        <p:sp>
          <p:nvSpPr>
            <p:cNvPr id="8" name="TextBox 8"/>
            <p:cNvSpPr txBox="1"/>
            <p:nvPr/>
          </p:nvSpPr>
          <p:spPr>
            <a:xfrm>
              <a:off x="63500" y="2797883"/>
              <a:ext cx="6792024" cy="1117859"/>
            </a:xfrm>
            <a:prstGeom prst="rect">
              <a:avLst/>
            </a:prstGeom>
          </p:spPr>
          <p:txBody>
            <a:bodyPr lIns="0" tIns="0" rIns="0" bIns="0" rtlCol="0" anchor="t">
              <a:spAutoFit/>
            </a:bodyPr>
            <a:lstStyle/>
            <a:p>
              <a:pPr marL="872741" lvl="1" indent="-436370" algn="just">
                <a:lnSpc>
                  <a:spcPts val="8084"/>
                </a:lnSpc>
                <a:buFont typeface="Arial"/>
                <a:buChar char="•"/>
              </a:pPr>
              <a:r>
                <a:rPr lang="en-US" sz="4042">
                  <a:solidFill>
                    <a:srgbClr val="252930"/>
                  </a:solidFill>
                  <a:latin typeface="Maven Pro"/>
                  <a:ea typeface="Maven Pro"/>
                  <a:cs typeface="Maven Pro"/>
                  <a:sym typeface="Maven Pro"/>
                </a:rPr>
                <a:t>Future work</a:t>
              </a:r>
            </a:p>
          </p:txBody>
        </p:sp>
        <p:sp>
          <p:nvSpPr>
            <p:cNvPr id="9" name="TextBox 9"/>
            <p:cNvSpPr txBox="1"/>
            <p:nvPr/>
          </p:nvSpPr>
          <p:spPr>
            <a:xfrm>
              <a:off x="0" y="4349224"/>
              <a:ext cx="6792024" cy="1117859"/>
            </a:xfrm>
            <a:prstGeom prst="rect">
              <a:avLst/>
            </a:prstGeom>
          </p:spPr>
          <p:txBody>
            <a:bodyPr lIns="0" tIns="0" rIns="0" bIns="0" rtlCol="0" anchor="t">
              <a:spAutoFit/>
            </a:bodyPr>
            <a:lstStyle/>
            <a:p>
              <a:pPr marL="872741" lvl="1" indent="-436370" algn="just">
                <a:lnSpc>
                  <a:spcPts val="8084"/>
                </a:lnSpc>
                <a:buFont typeface="Arial"/>
                <a:buChar char="•"/>
              </a:pPr>
              <a:r>
                <a:rPr lang="en-US" sz="4042">
                  <a:solidFill>
                    <a:srgbClr val="252930"/>
                  </a:solidFill>
                  <a:latin typeface="Maven Pro"/>
                  <a:ea typeface="Maven Pro"/>
                  <a:cs typeface="Maven Pro"/>
                  <a:sym typeface="Maven Pro"/>
                </a:rPr>
                <a:t>Conclusion</a:t>
              </a:r>
            </a:p>
          </p:txBody>
        </p:sp>
      </p:grpSp>
      <p:sp>
        <p:nvSpPr>
          <p:cNvPr id="10" name="TextBox 10"/>
          <p:cNvSpPr txBox="1"/>
          <p:nvPr/>
        </p:nvSpPr>
        <p:spPr>
          <a:xfrm>
            <a:off x="4995148" y="1860291"/>
            <a:ext cx="8297704" cy="845492"/>
          </a:xfrm>
          <a:prstGeom prst="rect">
            <a:avLst/>
          </a:prstGeom>
        </p:spPr>
        <p:txBody>
          <a:bodyPr lIns="0" tIns="0" rIns="0" bIns="0" rtlCol="0" anchor="t">
            <a:spAutoFit/>
          </a:bodyPr>
          <a:lstStyle/>
          <a:p>
            <a:pPr algn="ctr">
              <a:lnSpc>
                <a:spcPts val="5841"/>
              </a:lnSpc>
            </a:pPr>
            <a:r>
              <a:rPr lang="en-US" sz="7301" b="1">
                <a:solidFill>
                  <a:srgbClr val="252D37"/>
                </a:solidFill>
                <a:latin typeface="Maven Pro Bold"/>
                <a:ea typeface="Maven Pro Bold"/>
                <a:cs typeface="Maven Pro Bold"/>
                <a:sym typeface="Maven Pro Bold"/>
              </a:rPr>
              <a:t>OVERVIEW</a:t>
            </a:r>
          </a:p>
        </p:txBody>
      </p:sp>
      <p:sp>
        <p:nvSpPr>
          <p:cNvPr id="11" name="Freeform 11"/>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 name="Freeform 12"/>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3" name="Freeform 13"/>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grpSp>
        <p:nvGrpSpPr>
          <p:cNvPr id="14" name="Group 14"/>
          <p:cNvGrpSpPr/>
          <p:nvPr/>
        </p:nvGrpSpPr>
        <p:grpSpPr>
          <a:xfrm>
            <a:off x="2812516" y="3909546"/>
            <a:ext cx="5236893" cy="4100313"/>
            <a:chOff x="0" y="0"/>
            <a:chExt cx="6982524" cy="5467084"/>
          </a:xfrm>
        </p:grpSpPr>
        <p:sp>
          <p:nvSpPr>
            <p:cNvPr id="15" name="TextBox 15"/>
            <p:cNvSpPr txBox="1"/>
            <p:nvPr/>
          </p:nvSpPr>
          <p:spPr>
            <a:xfrm>
              <a:off x="190500" y="-304800"/>
              <a:ext cx="6792024" cy="1117859"/>
            </a:xfrm>
            <a:prstGeom prst="rect">
              <a:avLst/>
            </a:prstGeom>
          </p:spPr>
          <p:txBody>
            <a:bodyPr lIns="0" tIns="0" rIns="0" bIns="0" rtlCol="0" anchor="t">
              <a:spAutoFit/>
            </a:bodyPr>
            <a:lstStyle/>
            <a:p>
              <a:pPr marL="872741" lvl="1" indent="-436370" algn="just">
                <a:lnSpc>
                  <a:spcPts val="8084"/>
                </a:lnSpc>
                <a:buFont typeface="Arial"/>
                <a:buChar char="•"/>
              </a:pPr>
              <a:r>
                <a:rPr lang="en-US" sz="4042">
                  <a:solidFill>
                    <a:srgbClr val="252930"/>
                  </a:solidFill>
                  <a:latin typeface="Maven Pro"/>
                  <a:ea typeface="Maven Pro"/>
                  <a:cs typeface="Maven Pro"/>
                  <a:sym typeface="Maven Pro"/>
                </a:rPr>
                <a:t>Abstract</a:t>
              </a:r>
            </a:p>
          </p:txBody>
        </p:sp>
        <p:sp>
          <p:nvSpPr>
            <p:cNvPr id="16" name="TextBox 16"/>
            <p:cNvSpPr txBox="1"/>
            <p:nvPr/>
          </p:nvSpPr>
          <p:spPr>
            <a:xfrm>
              <a:off x="127000" y="1246541"/>
              <a:ext cx="6792024" cy="1117859"/>
            </a:xfrm>
            <a:prstGeom prst="rect">
              <a:avLst/>
            </a:prstGeom>
          </p:spPr>
          <p:txBody>
            <a:bodyPr lIns="0" tIns="0" rIns="0" bIns="0" rtlCol="0" anchor="t">
              <a:spAutoFit/>
            </a:bodyPr>
            <a:lstStyle/>
            <a:p>
              <a:pPr marL="872741" lvl="1" indent="-436370" algn="just">
                <a:lnSpc>
                  <a:spcPts val="8084"/>
                </a:lnSpc>
                <a:buFont typeface="Arial"/>
                <a:buChar char="•"/>
              </a:pPr>
              <a:r>
                <a:rPr lang="en-US" sz="4042">
                  <a:solidFill>
                    <a:srgbClr val="252930"/>
                  </a:solidFill>
                  <a:latin typeface="Maven Pro"/>
                  <a:ea typeface="Maven Pro"/>
                  <a:cs typeface="Maven Pro"/>
                  <a:sym typeface="Maven Pro"/>
                </a:rPr>
                <a:t>Introduction</a:t>
              </a:r>
            </a:p>
          </p:txBody>
        </p:sp>
        <p:sp>
          <p:nvSpPr>
            <p:cNvPr id="17" name="TextBox 17"/>
            <p:cNvSpPr txBox="1"/>
            <p:nvPr/>
          </p:nvSpPr>
          <p:spPr>
            <a:xfrm>
              <a:off x="63500" y="2797883"/>
              <a:ext cx="6792024" cy="1117859"/>
            </a:xfrm>
            <a:prstGeom prst="rect">
              <a:avLst/>
            </a:prstGeom>
          </p:spPr>
          <p:txBody>
            <a:bodyPr lIns="0" tIns="0" rIns="0" bIns="0" rtlCol="0" anchor="t">
              <a:spAutoFit/>
            </a:bodyPr>
            <a:lstStyle/>
            <a:p>
              <a:pPr marL="872741" lvl="1" indent="-436370" algn="just">
                <a:lnSpc>
                  <a:spcPts val="8084"/>
                </a:lnSpc>
                <a:buFont typeface="Arial"/>
                <a:buChar char="•"/>
              </a:pPr>
              <a:r>
                <a:rPr lang="en-US" sz="4042">
                  <a:solidFill>
                    <a:srgbClr val="252930"/>
                  </a:solidFill>
                  <a:latin typeface="Maven Pro"/>
                  <a:ea typeface="Maven Pro"/>
                  <a:cs typeface="Maven Pro"/>
                  <a:sym typeface="Maven Pro"/>
                </a:rPr>
                <a:t>Problem</a:t>
              </a:r>
            </a:p>
          </p:txBody>
        </p:sp>
        <p:sp>
          <p:nvSpPr>
            <p:cNvPr id="18" name="TextBox 18"/>
            <p:cNvSpPr txBox="1"/>
            <p:nvPr/>
          </p:nvSpPr>
          <p:spPr>
            <a:xfrm>
              <a:off x="0" y="4349224"/>
              <a:ext cx="6792024" cy="1117859"/>
            </a:xfrm>
            <a:prstGeom prst="rect">
              <a:avLst/>
            </a:prstGeom>
          </p:spPr>
          <p:txBody>
            <a:bodyPr lIns="0" tIns="0" rIns="0" bIns="0" rtlCol="0" anchor="t">
              <a:spAutoFit/>
            </a:bodyPr>
            <a:lstStyle/>
            <a:p>
              <a:pPr marL="872741" lvl="1" indent="-436370" algn="just">
                <a:lnSpc>
                  <a:spcPts val="8084"/>
                </a:lnSpc>
                <a:buFont typeface="Arial"/>
                <a:buChar char="•"/>
              </a:pPr>
              <a:r>
                <a:rPr lang="en-US" sz="4042">
                  <a:solidFill>
                    <a:srgbClr val="252930"/>
                  </a:solidFill>
                  <a:latin typeface="Maven Pro"/>
                  <a:ea typeface="Maven Pro"/>
                  <a:cs typeface="Maven Pro"/>
                  <a:sym typeface="Maven Pro"/>
                </a:rPr>
                <a:t>Architecture</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1590112" y="3095681"/>
            <a:ext cx="15107777" cy="4949825"/>
          </a:xfrm>
          <a:prstGeom prst="rect">
            <a:avLst/>
          </a:prstGeom>
        </p:spPr>
        <p:txBody>
          <a:bodyPr lIns="0" tIns="0" rIns="0" bIns="0" rtlCol="0" anchor="t">
            <a:spAutoFit/>
          </a:bodyPr>
          <a:lstStyle/>
          <a:p>
            <a:pPr algn="just">
              <a:lnSpc>
                <a:spcPts val="4899"/>
              </a:lnSpc>
            </a:pPr>
            <a:r>
              <a:rPr lang="en-US" sz="3499">
                <a:solidFill>
                  <a:srgbClr val="252D37"/>
                </a:solidFill>
                <a:latin typeface="Times New Roman"/>
                <a:ea typeface="Times New Roman"/>
                <a:cs typeface="Times New Roman"/>
                <a:sym typeface="Times New Roman"/>
              </a:rPr>
              <a:t>This project presents an Indian Sign Language (ISL) recognition system that converts static hand-gesture images into text using a deep learning model. A pretrained ResNet-18 architecture was fine-tuned on the ISL alphabet dataset after applying standardized preprocessing. The system allows users to upload an image, processes it through the trained model, and predicts the corresponding ISL alphabet with high accuracy. The solution is simple, efficient, and demonstrates strong potential for improving communication accessibility, with scope for future expansion to dynamic gestures and larger vocabularies.</a:t>
            </a:r>
          </a:p>
        </p:txBody>
      </p:sp>
      <p:sp>
        <p:nvSpPr>
          <p:cNvPr id="3" name="Freeform 3"/>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1028700"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TextBox 6"/>
          <p:cNvSpPr txBox="1"/>
          <p:nvPr/>
        </p:nvSpPr>
        <p:spPr>
          <a:xfrm>
            <a:off x="2249287" y="1156146"/>
            <a:ext cx="12288749" cy="1047750"/>
          </a:xfrm>
          <a:prstGeom prst="rect">
            <a:avLst/>
          </a:prstGeom>
        </p:spPr>
        <p:txBody>
          <a:bodyPr lIns="0" tIns="0" rIns="0" bIns="0" rtlCol="0" anchor="t">
            <a:spAutoFit/>
          </a:bodyPr>
          <a:lstStyle/>
          <a:p>
            <a:pPr algn="ctr">
              <a:lnSpc>
                <a:spcPts val="7200"/>
              </a:lnSpc>
            </a:pPr>
            <a:r>
              <a:rPr lang="en-US" sz="9000" b="1">
                <a:solidFill>
                  <a:srgbClr val="252930"/>
                </a:solidFill>
                <a:latin typeface="Maven Pro Bold"/>
                <a:ea typeface="Maven Pro Bold"/>
                <a:cs typeface="Maven Pro Bold"/>
                <a:sym typeface="Maven Pro Bold"/>
              </a:rPr>
              <a:t>ABSTRACT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1041035" y="2852319"/>
            <a:ext cx="16583821" cy="6591896"/>
          </a:xfrm>
          <a:prstGeom prst="rect">
            <a:avLst/>
          </a:prstGeom>
        </p:spPr>
        <p:txBody>
          <a:bodyPr lIns="0" tIns="0" rIns="0" bIns="0" rtlCol="0" anchor="t">
            <a:spAutoFit/>
          </a:bodyPr>
          <a:lstStyle/>
          <a:p>
            <a:pPr marL="896313" lvl="1" indent="-448157" algn="just">
              <a:lnSpc>
                <a:spcPts val="5812"/>
              </a:lnSpc>
              <a:buFont typeface="Arial"/>
              <a:buChar char="•"/>
            </a:pPr>
            <a:r>
              <a:rPr lang="en-US" sz="4151">
                <a:solidFill>
                  <a:srgbClr val="252930"/>
                </a:solidFill>
                <a:latin typeface="Times New Roman"/>
                <a:ea typeface="Times New Roman"/>
                <a:cs typeface="Times New Roman"/>
                <a:sym typeface="Times New Roman"/>
              </a:rPr>
              <a:t>Communication is difficult for people using Indian Sign Language because many others don’t understand ISL.</a:t>
            </a:r>
          </a:p>
          <a:p>
            <a:pPr marL="896313" lvl="1" indent="-448157" algn="just">
              <a:lnSpc>
                <a:spcPts val="5812"/>
              </a:lnSpc>
              <a:buFont typeface="Arial"/>
              <a:buChar char="•"/>
            </a:pPr>
            <a:r>
              <a:rPr lang="en-US" sz="4151">
                <a:solidFill>
                  <a:srgbClr val="252930"/>
                </a:solidFill>
                <a:latin typeface="Times New Roman"/>
                <a:ea typeface="Times New Roman"/>
                <a:cs typeface="Times New Roman"/>
                <a:sym typeface="Times New Roman"/>
              </a:rPr>
              <a:t>There is a need for a tool that recognizes ISL hand gestures and converts them into readable text to reduce this communication gap.</a:t>
            </a:r>
          </a:p>
          <a:p>
            <a:pPr marL="896313" lvl="1" indent="-448157" algn="just">
              <a:lnSpc>
                <a:spcPts val="5812"/>
              </a:lnSpc>
              <a:buFont typeface="Arial"/>
              <a:buChar char="•"/>
            </a:pPr>
            <a:r>
              <a:rPr lang="en-US" sz="4151">
                <a:solidFill>
                  <a:srgbClr val="252930"/>
                </a:solidFill>
                <a:latin typeface="Times New Roman"/>
                <a:ea typeface="Times New Roman"/>
                <a:cs typeface="Times New Roman"/>
                <a:sym typeface="Times New Roman"/>
              </a:rPr>
              <a:t>The project aims to create a simple, accessible system that identifies static ISL gestures from images and translates them into text.</a:t>
            </a:r>
          </a:p>
          <a:p>
            <a:pPr marL="896313" lvl="1" indent="-448157" algn="just">
              <a:lnSpc>
                <a:spcPts val="5812"/>
              </a:lnSpc>
              <a:buFont typeface="Arial"/>
              <a:buChar char="•"/>
            </a:pPr>
            <a:r>
              <a:rPr lang="en-US" sz="4151">
                <a:solidFill>
                  <a:srgbClr val="252930"/>
                </a:solidFill>
                <a:latin typeface="Times New Roman"/>
                <a:ea typeface="Times New Roman"/>
                <a:cs typeface="Times New Roman"/>
                <a:sym typeface="Times New Roman"/>
              </a:rPr>
              <a:t>It is useful for hearing-impaired individuals, ISL learners, educators, and anyone who needs quick ISL-to-text support.</a:t>
            </a:r>
          </a:p>
          <a:p>
            <a:pPr algn="just">
              <a:lnSpc>
                <a:spcPts val="5672"/>
              </a:lnSpc>
            </a:pPr>
            <a:endParaRPr lang="en-US" sz="4151">
              <a:solidFill>
                <a:srgbClr val="252930"/>
              </a:solidFill>
              <a:latin typeface="Times New Roman"/>
              <a:ea typeface="Times New Roman"/>
              <a:cs typeface="Times New Roman"/>
              <a:sym typeface="Times New Roman"/>
            </a:endParaRPr>
          </a:p>
        </p:txBody>
      </p:sp>
      <p:sp>
        <p:nvSpPr>
          <p:cNvPr id="3" name="TextBox 3"/>
          <p:cNvSpPr txBox="1"/>
          <p:nvPr/>
        </p:nvSpPr>
        <p:spPr>
          <a:xfrm>
            <a:off x="3188571" y="904875"/>
            <a:ext cx="12288749" cy="1047750"/>
          </a:xfrm>
          <a:prstGeom prst="rect">
            <a:avLst/>
          </a:prstGeom>
        </p:spPr>
        <p:txBody>
          <a:bodyPr lIns="0" tIns="0" rIns="0" bIns="0" rtlCol="0" anchor="t">
            <a:spAutoFit/>
          </a:bodyPr>
          <a:lstStyle/>
          <a:p>
            <a:pPr algn="ctr">
              <a:lnSpc>
                <a:spcPts val="7200"/>
              </a:lnSpc>
            </a:pPr>
            <a:r>
              <a:rPr lang="en-US" sz="9000" b="1">
                <a:solidFill>
                  <a:srgbClr val="252930"/>
                </a:solidFill>
                <a:latin typeface="Maven Pro Bold"/>
                <a:ea typeface="Maven Pro Bold"/>
                <a:cs typeface="Maven Pro Bold"/>
                <a:sym typeface="Maven Pro Bold"/>
              </a:rPr>
              <a:t>INTRODUCTION</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869719" y="899463"/>
            <a:ext cx="10895135" cy="1545965"/>
          </a:xfrm>
          <a:prstGeom prst="rect">
            <a:avLst/>
          </a:prstGeom>
        </p:spPr>
        <p:txBody>
          <a:bodyPr lIns="0" tIns="0" rIns="0" bIns="0" rtlCol="0" anchor="t">
            <a:spAutoFit/>
          </a:bodyPr>
          <a:lstStyle/>
          <a:p>
            <a:pPr algn="ctr">
              <a:lnSpc>
                <a:spcPts val="5727"/>
              </a:lnSpc>
            </a:pPr>
            <a:r>
              <a:rPr lang="en-US" sz="7158" b="1">
                <a:solidFill>
                  <a:srgbClr val="252930"/>
                </a:solidFill>
                <a:latin typeface="Maven Pro Bold"/>
                <a:ea typeface="Maven Pro Bold"/>
                <a:cs typeface="Maven Pro Bold"/>
                <a:sym typeface="Maven Pro Bold"/>
              </a:rPr>
              <a:t>PROBLEM AND OBJECTIVE</a:t>
            </a:r>
          </a:p>
        </p:txBody>
      </p:sp>
      <p:sp>
        <p:nvSpPr>
          <p:cNvPr id="3" name="TextBox 3"/>
          <p:cNvSpPr txBox="1"/>
          <p:nvPr/>
        </p:nvSpPr>
        <p:spPr>
          <a:xfrm>
            <a:off x="727527" y="2951836"/>
            <a:ext cx="16098159" cy="2361565"/>
          </a:xfrm>
          <a:prstGeom prst="rect">
            <a:avLst/>
          </a:prstGeom>
        </p:spPr>
        <p:txBody>
          <a:bodyPr lIns="0" tIns="0" rIns="0" bIns="0" rtlCol="0" anchor="t">
            <a:spAutoFit/>
          </a:bodyPr>
          <a:lstStyle/>
          <a:p>
            <a:pPr algn="just">
              <a:lnSpc>
                <a:spcPts val="4899"/>
              </a:lnSpc>
            </a:pPr>
            <a:r>
              <a:rPr lang="en-US" sz="3499" b="1">
                <a:solidFill>
                  <a:srgbClr val="252930"/>
                </a:solidFill>
                <a:latin typeface="Times New Roman Bold"/>
                <a:ea typeface="Times New Roman Bold"/>
                <a:cs typeface="Times New Roman Bold"/>
                <a:sym typeface="Times New Roman Bold"/>
              </a:rPr>
              <a:t>Problem Statement:</a:t>
            </a:r>
          </a:p>
          <a:p>
            <a:pPr marL="712470" lvl="1" indent="-356235" algn="just">
              <a:lnSpc>
                <a:spcPts val="4620"/>
              </a:lnSpc>
              <a:buFont typeface="Arial"/>
              <a:buChar char="•"/>
            </a:pPr>
            <a:r>
              <a:rPr lang="en-US" sz="3300">
                <a:solidFill>
                  <a:srgbClr val="252930"/>
                </a:solidFill>
                <a:latin typeface="Times New Roman"/>
                <a:ea typeface="Times New Roman"/>
                <a:cs typeface="Times New Roman"/>
                <a:sym typeface="Times New Roman"/>
              </a:rPr>
              <a:t>People who use Indian Sign Language often struggle to communicate with individuals who are unfamiliar with it. This leads to frequent misunderstandings and creates barriers in daily interactions, making it difficult for them to fully participate in routine activities.</a:t>
            </a:r>
          </a:p>
        </p:txBody>
      </p:sp>
      <p:sp>
        <p:nvSpPr>
          <p:cNvPr id="4" name="Freeform 4"/>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028700"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7" name="TextBox 7"/>
          <p:cNvSpPr txBox="1"/>
          <p:nvPr/>
        </p:nvSpPr>
        <p:spPr>
          <a:xfrm>
            <a:off x="727527" y="6134718"/>
            <a:ext cx="16098159" cy="2942590"/>
          </a:xfrm>
          <a:prstGeom prst="rect">
            <a:avLst/>
          </a:prstGeom>
        </p:spPr>
        <p:txBody>
          <a:bodyPr lIns="0" tIns="0" rIns="0" bIns="0" rtlCol="0" anchor="t">
            <a:spAutoFit/>
          </a:bodyPr>
          <a:lstStyle/>
          <a:p>
            <a:pPr algn="just">
              <a:lnSpc>
                <a:spcPts val="4899"/>
              </a:lnSpc>
            </a:pPr>
            <a:r>
              <a:rPr lang="en-US" sz="3499" b="1">
                <a:solidFill>
                  <a:srgbClr val="252930"/>
                </a:solidFill>
                <a:latin typeface="Times New Roman Bold"/>
                <a:ea typeface="Times New Roman Bold"/>
                <a:cs typeface="Times New Roman Bold"/>
                <a:sym typeface="Times New Roman Bold"/>
              </a:rPr>
              <a:t>Objective / Solution:</a:t>
            </a:r>
          </a:p>
          <a:p>
            <a:pPr marL="712470" lvl="1" indent="-356235" algn="just">
              <a:lnSpc>
                <a:spcPts val="4620"/>
              </a:lnSpc>
              <a:buFont typeface="Arial"/>
              <a:buChar char="•"/>
            </a:pPr>
            <a:r>
              <a:rPr lang="en-US" sz="3300">
                <a:solidFill>
                  <a:srgbClr val="252930"/>
                </a:solidFill>
                <a:latin typeface="Times New Roman"/>
                <a:ea typeface="Times New Roman"/>
                <a:cs typeface="Times New Roman"/>
                <a:sym typeface="Times New Roman"/>
              </a:rPr>
              <a:t>The objective of this project is to develop a simple, accessible system that can recognize static ISL hand gestures from images and convert them into readable text. This solution aims to bridge the communication gap and support smoother, more inclusive interactions between ISL users and non-signers.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3576366" y="715114"/>
            <a:ext cx="10777809" cy="922447"/>
          </a:xfrm>
          <a:prstGeom prst="rect">
            <a:avLst/>
          </a:prstGeom>
        </p:spPr>
        <p:txBody>
          <a:bodyPr lIns="0" tIns="0" rIns="0" bIns="0" rtlCol="0" anchor="t">
            <a:spAutoFit/>
          </a:bodyPr>
          <a:lstStyle/>
          <a:p>
            <a:pPr algn="ctr">
              <a:lnSpc>
                <a:spcPts val="6426"/>
              </a:lnSpc>
            </a:pPr>
            <a:r>
              <a:rPr lang="en-US" sz="8033" b="1">
                <a:solidFill>
                  <a:srgbClr val="252930"/>
                </a:solidFill>
                <a:latin typeface="Maven Pro Bold"/>
                <a:ea typeface="Maven Pro Bold"/>
                <a:cs typeface="Maven Pro Bold"/>
                <a:sym typeface="Maven Pro Bold"/>
              </a:rPr>
              <a:t>ARCHITECTURE USED</a:t>
            </a:r>
          </a:p>
        </p:txBody>
      </p:sp>
      <p:sp>
        <p:nvSpPr>
          <p:cNvPr id="3" name="TextBox 3"/>
          <p:cNvSpPr txBox="1"/>
          <p:nvPr/>
        </p:nvSpPr>
        <p:spPr>
          <a:xfrm>
            <a:off x="258110" y="2141525"/>
            <a:ext cx="16411575" cy="7355946"/>
          </a:xfrm>
          <a:prstGeom prst="rect">
            <a:avLst/>
          </a:prstGeom>
        </p:spPr>
        <p:txBody>
          <a:bodyPr lIns="0" tIns="0" rIns="0" bIns="0" rtlCol="0" anchor="t">
            <a:spAutoFit/>
          </a:bodyPr>
          <a:lstStyle/>
          <a:p>
            <a:pPr marL="760147" lvl="1" indent="-380074" algn="just">
              <a:lnSpc>
                <a:spcPts val="4929"/>
              </a:lnSpc>
              <a:buFont typeface="Arial"/>
              <a:buChar char="•"/>
            </a:pPr>
            <a:r>
              <a:rPr lang="en-US" sz="3520">
                <a:solidFill>
                  <a:srgbClr val="252930"/>
                </a:solidFill>
                <a:latin typeface="Times New Roman"/>
                <a:ea typeface="Times New Roman"/>
                <a:cs typeface="Times New Roman"/>
                <a:sym typeface="Times New Roman"/>
              </a:rPr>
              <a:t>Uses the ISL Alphabet Dataset (A–Z) loaded through Kaggle; images of hand gestures for each alphabet.</a:t>
            </a:r>
          </a:p>
          <a:p>
            <a:pPr marL="760147" lvl="1" indent="-380074" algn="just">
              <a:lnSpc>
                <a:spcPts val="4929"/>
              </a:lnSpc>
              <a:buFont typeface="Arial"/>
              <a:buChar char="•"/>
            </a:pPr>
            <a:r>
              <a:rPr lang="en-US" sz="3520">
                <a:solidFill>
                  <a:srgbClr val="252930"/>
                </a:solidFill>
                <a:latin typeface="Times New Roman"/>
                <a:ea typeface="Times New Roman"/>
                <a:cs typeface="Times New Roman"/>
                <a:sym typeface="Times New Roman"/>
              </a:rPr>
              <a:t>Images are preprocessed using resizing (224×224), normalization, and tensor conversion, then split into training and validation sets.</a:t>
            </a:r>
          </a:p>
          <a:p>
            <a:pPr marL="760147" lvl="1" indent="-380074" algn="just">
              <a:lnSpc>
                <a:spcPts val="4929"/>
              </a:lnSpc>
              <a:buFont typeface="Arial"/>
              <a:buChar char="•"/>
            </a:pPr>
            <a:r>
              <a:rPr lang="en-US" sz="3520">
                <a:solidFill>
                  <a:srgbClr val="252930"/>
                </a:solidFill>
                <a:latin typeface="Times New Roman"/>
                <a:ea typeface="Times New Roman"/>
                <a:cs typeface="Times New Roman"/>
                <a:sym typeface="Times New Roman"/>
              </a:rPr>
              <a:t>A pretrained ResNet-18 model is used with the final layer replaced to classify 26 gesture classes.</a:t>
            </a:r>
          </a:p>
          <a:p>
            <a:pPr marL="760147" lvl="1" indent="-380074" algn="just">
              <a:lnSpc>
                <a:spcPts val="4929"/>
              </a:lnSpc>
              <a:buFont typeface="Arial"/>
              <a:buChar char="•"/>
            </a:pPr>
            <a:r>
              <a:rPr lang="en-US" sz="3520">
                <a:solidFill>
                  <a:srgbClr val="252930"/>
                </a:solidFill>
                <a:latin typeface="Times New Roman"/>
                <a:ea typeface="Times New Roman"/>
                <a:cs typeface="Times New Roman"/>
                <a:sym typeface="Times New Roman"/>
              </a:rPr>
              <a:t>Model is trained with Adam optimizer and CrossEntropyLoss, performing forward pass, loss calculation, backpropagation, and updates each epoch.</a:t>
            </a:r>
          </a:p>
          <a:p>
            <a:pPr marL="760147" lvl="1" indent="-380074" algn="just">
              <a:lnSpc>
                <a:spcPts val="4929"/>
              </a:lnSpc>
              <a:buFont typeface="Arial"/>
              <a:buChar char="•"/>
            </a:pPr>
            <a:r>
              <a:rPr lang="en-US" sz="3520">
                <a:solidFill>
                  <a:srgbClr val="252930"/>
                </a:solidFill>
                <a:latin typeface="Times New Roman"/>
                <a:ea typeface="Times New Roman"/>
                <a:cs typeface="Times New Roman"/>
                <a:sym typeface="Times New Roman"/>
              </a:rPr>
              <a:t>Performance is evaluated using validation accuracy and loss.</a:t>
            </a:r>
          </a:p>
          <a:p>
            <a:pPr marL="760147" lvl="1" indent="-380074" algn="just">
              <a:lnSpc>
                <a:spcPts val="4929"/>
              </a:lnSpc>
              <a:buFont typeface="Arial"/>
              <a:buChar char="•"/>
            </a:pPr>
            <a:r>
              <a:rPr lang="en-US" sz="3520">
                <a:solidFill>
                  <a:srgbClr val="252930"/>
                </a:solidFill>
                <a:latin typeface="Times New Roman"/>
                <a:ea typeface="Times New Roman"/>
                <a:cs typeface="Times New Roman"/>
                <a:sym typeface="Times New Roman"/>
              </a:rPr>
              <a:t>Final model is deployed with a Gradio interface where users upload an image and receive the predicted gesture with confidence.</a:t>
            </a:r>
          </a:p>
          <a:p>
            <a:pPr algn="just">
              <a:lnSpc>
                <a:spcPts val="4229"/>
              </a:lnSpc>
            </a:pPr>
            <a:endParaRPr lang="en-US" sz="3520">
              <a:solidFill>
                <a:srgbClr val="252930"/>
              </a:solidFill>
              <a:latin typeface="Times New Roman"/>
              <a:ea typeface="Times New Roman"/>
              <a:cs typeface="Times New Roman"/>
              <a:sym typeface="Times New Roman"/>
            </a:endParaRPr>
          </a:p>
        </p:txBody>
      </p:sp>
      <p:sp>
        <p:nvSpPr>
          <p:cNvPr id="4" name="Freeform 4"/>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028700"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751669" y="1997223"/>
            <a:ext cx="7716413" cy="8499717"/>
          </a:xfrm>
          <a:prstGeom prst="rect">
            <a:avLst/>
          </a:prstGeom>
        </p:spPr>
        <p:txBody>
          <a:bodyPr lIns="0" tIns="0" rIns="0" bIns="0" rtlCol="0" anchor="t">
            <a:spAutoFit/>
          </a:bodyPr>
          <a:lstStyle/>
          <a:p>
            <a:pPr marL="667233" lvl="1" indent="-333617" algn="just">
              <a:lnSpc>
                <a:spcPts val="4326"/>
              </a:lnSpc>
              <a:buFont typeface="Arial"/>
              <a:buChar char="•"/>
            </a:pPr>
            <a:r>
              <a:rPr lang="en-US" sz="3090">
                <a:solidFill>
                  <a:srgbClr val="252930"/>
                </a:solidFill>
                <a:latin typeface="Times New Roman"/>
                <a:ea typeface="Times New Roman"/>
                <a:cs typeface="Times New Roman"/>
                <a:sym typeface="Times New Roman"/>
              </a:rPr>
              <a:t>The model achieved 93.84% accuracy, with strong precision, recall, and F1-score across most ISL alphabet classes.</a:t>
            </a:r>
          </a:p>
          <a:p>
            <a:pPr marL="667233" lvl="1" indent="-333617" algn="just">
              <a:lnSpc>
                <a:spcPts val="4326"/>
              </a:lnSpc>
              <a:buFont typeface="Arial"/>
              <a:buChar char="•"/>
            </a:pPr>
            <a:r>
              <a:rPr lang="en-US" sz="3090">
                <a:solidFill>
                  <a:srgbClr val="252930"/>
                </a:solidFill>
                <a:latin typeface="Times New Roman"/>
                <a:ea typeface="Times New Roman"/>
                <a:cs typeface="Times New Roman"/>
                <a:sym typeface="Times New Roman"/>
              </a:rPr>
              <a:t>Most predictions were correct, shown by a clear diagonal in the confusion matrix.</a:t>
            </a:r>
          </a:p>
          <a:p>
            <a:pPr marL="667233" lvl="1" indent="-333617" algn="just">
              <a:lnSpc>
                <a:spcPts val="4326"/>
              </a:lnSpc>
              <a:buFont typeface="Arial"/>
              <a:buChar char="•"/>
            </a:pPr>
            <a:r>
              <a:rPr lang="en-US" sz="3090">
                <a:solidFill>
                  <a:srgbClr val="252930"/>
                </a:solidFill>
                <a:latin typeface="Times New Roman"/>
                <a:ea typeface="Times New Roman"/>
                <a:cs typeface="Times New Roman"/>
                <a:sym typeface="Times New Roman"/>
              </a:rPr>
              <a:t>High-performing signs included A, B, D, E, F, G, L, R, S, V, X, Z with near-perfect accuracy.</a:t>
            </a:r>
          </a:p>
          <a:p>
            <a:pPr marL="667233" lvl="1" indent="-333617" algn="just">
              <a:lnSpc>
                <a:spcPts val="4326"/>
              </a:lnSpc>
              <a:buFont typeface="Arial"/>
              <a:buChar char="•"/>
            </a:pPr>
            <a:r>
              <a:rPr lang="en-US" sz="3090">
                <a:solidFill>
                  <a:srgbClr val="252930"/>
                </a:solidFill>
                <a:latin typeface="Times New Roman"/>
                <a:ea typeface="Times New Roman"/>
                <a:cs typeface="Times New Roman"/>
                <a:sym typeface="Times New Roman"/>
              </a:rPr>
              <a:t>Minor misclassifications occurred only in a few visually similar gestures (e.g., C ↔ I, H ↔ G/K, U ↔ P).</a:t>
            </a:r>
          </a:p>
          <a:p>
            <a:pPr marL="667233" lvl="1" indent="-333617" algn="just">
              <a:lnSpc>
                <a:spcPts val="4326"/>
              </a:lnSpc>
              <a:buFont typeface="Arial"/>
              <a:buChar char="•"/>
            </a:pPr>
            <a:r>
              <a:rPr lang="en-US" sz="3090">
                <a:solidFill>
                  <a:srgbClr val="252930"/>
                </a:solidFill>
                <a:latin typeface="Times New Roman"/>
                <a:ea typeface="Times New Roman"/>
                <a:cs typeface="Times New Roman"/>
                <a:sym typeface="Times New Roman"/>
              </a:rPr>
              <a:t>Overall, the system reliably recognizes 26 static ISL gestures and demonstrates strong potential for real-world communication support.</a:t>
            </a:r>
          </a:p>
          <a:p>
            <a:pPr algn="just">
              <a:lnSpc>
                <a:spcPts val="2646"/>
              </a:lnSpc>
            </a:pPr>
            <a:endParaRPr lang="en-US" sz="3090">
              <a:solidFill>
                <a:srgbClr val="252930"/>
              </a:solidFill>
              <a:latin typeface="Times New Roman"/>
              <a:ea typeface="Times New Roman"/>
              <a:cs typeface="Times New Roman"/>
              <a:sym typeface="Times New Roman"/>
            </a:endParaRPr>
          </a:p>
        </p:txBody>
      </p:sp>
      <p:sp>
        <p:nvSpPr>
          <p:cNvPr id="3" name="Freeform 3"/>
          <p:cNvSpPr/>
          <p:nvPr/>
        </p:nvSpPr>
        <p:spPr>
          <a:xfrm flipH="1">
            <a:off x="-591938" y="-552984"/>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rot="5400000">
            <a:off x="15972490" y="900019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8724184" y="3346136"/>
            <a:ext cx="9244682" cy="4749455"/>
          </a:xfrm>
          <a:custGeom>
            <a:avLst/>
            <a:gdLst/>
            <a:ahLst/>
            <a:cxnLst/>
            <a:rect l="l" t="t" r="r" b="b"/>
            <a:pathLst>
              <a:path w="9244682" h="4749455">
                <a:moveTo>
                  <a:pt x="0" y="0"/>
                </a:moveTo>
                <a:lnTo>
                  <a:pt x="9244682" y="0"/>
                </a:lnTo>
                <a:lnTo>
                  <a:pt x="9244682" y="4749455"/>
                </a:lnTo>
                <a:lnTo>
                  <a:pt x="0" y="4749455"/>
                </a:lnTo>
                <a:lnTo>
                  <a:pt x="0" y="0"/>
                </a:lnTo>
                <a:close/>
              </a:path>
            </a:pathLst>
          </a:custGeom>
          <a:blipFill>
            <a:blip r:embed="rId8"/>
            <a:stretch>
              <a:fillRect/>
            </a:stretch>
          </a:blipFill>
        </p:spPr>
        <p:txBody>
          <a:bodyPr/>
          <a:lstStyle/>
          <a:p>
            <a:endParaRPr lang="en-IN"/>
          </a:p>
        </p:txBody>
      </p:sp>
      <p:sp>
        <p:nvSpPr>
          <p:cNvPr id="7" name="TextBox 7"/>
          <p:cNvSpPr txBox="1"/>
          <p:nvPr/>
        </p:nvSpPr>
        <p:spPr>
          <a:xfrm>
            <a:off x="5491620" y="715962"/>
            <a:ext cx="7640663" cy="920751"/>
          </a:xfrm>
          <a:prstGeom prst="rect">
            <a:avLst/>
          </a:prstGeom>
        </p:spPr>
        <p:txBody>
          <a:bodyPr lIns="0" tIns="0" rIns="0" bIns="0" rtlCol="0" anchor="t">
            <a:spAutoFit/>
          </a:bodyPr>
          <a:lstStyle/>
          <a:p>
            <a:pPr algn="ctr">
              <a:lnSpc>
                <a:spcPts val="6400"/>
              </a:lnSpc>
            </a:pPr>
            <a:r>
              <a:rPr lang="en-US" sz="8000" b="1">
                <a:solidFill>
                  <a:srgbClr val="252930"/>
                </a:solidFill>
                <a:latin typeface="Maven Pro Bold"/>
                <a:ea typeface="Maven Pro Bold"/>
                <a:cs typeface="Maven Pro Bold"/>
                <a:sym typeface="Maven Pro Bold"/>
              </a:rPr>
              <a:t>RESULT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1254444" y="2877569"/>
            <a:ext cx="14779241" cy="5624195"/>
          </a:xfrm>
          <a:prstGeom prst="rect">
            <a:avLst/>
          </a:prstGeom>
        </p:spPr>
        <p:txBody>
          <a:bodyPr lIns="0" tIns="0" rIns="0" bIns="0" rtlCol="0" anchor="t">
            <a:spAutoFit/>
          </a:bodyPr>
          <a:lstStyle/>
          <a:p>
            <a:pPr marL="690879" lvl="1" indent="-345439" algn="just">
              <a:lnSpc>
                <a:spcPts val="4479"/>
              </a:lnSpc>
              <a:buFont typeface="Arial"/>
              <a:buChar char="•"/>
            </a:pPr>
            <a:r>
              <a:rPr lang="en-US" sz="3199">
                <a:solidFill>
                  <a:srgbClr val="252930"/>
                </a:solidFill>
                <a:latin typeface="Times New Roman"/>
                <a:ea typeface="Times New Roman"/>
                <a:cs typeface="Times New Roman"/>
                <a:sym typeface="Times New Roman"/>
              </a:rPr>
              <a:t>Achieved 93.84% accuracy, showing strong overall model performance.</a:t>
            </a:r>
          </a:p>
          <a:p>
            <a:pPr marL="690879" lvl="1" indent="-345439" algn="just">
              <a:lnSpc>
                <a:spcPts val="4479"/>
              </a:lnSpc>
              <a:buFont typeface="Arial"/>
              <a:buChar char="•"/>
            </a:pPr>
            <a:r>
              <a:rPr lang="en-US" sz="3199">
                <a:solidFill>
                  <a:srgbClr val="252930"/>
                </a:solidFill>
                <a:latin typeface="Times New Roman"/>
                <a:ea typeface="Times New Roman"/>
                <a:cs typeface="Times New Roman"/>
                <a:sym typeface="Times New Roman"/>
              </a:rPr>
              <a:t>Precision, recall, and F1-score are well-balanced, indicating consistent predictions.</a:t>
            </a:r>
          </a:p>
          <a:p>
            <a:pPr marL="690879" lvl="1" indent="-345439" algn="just">
              <a:lnSpc>
                <a:spcPts val="4479"/>
              </a:lnSpc>
              <a:buFont typeface="Arial"/>
              <a:buChar char="•"/>
            </a:pPr>
            <a:r>
              <a:rPr lang="en-US" sz="3199">
                <a:solidFill>
                  <a:srgbClr val="252930"/>
                </a:solidFill>
                <a:latin typeface="Times New Roman"/>
                <a:ea typeface="Times New Roman"/>
                <a:cs typeface="Times New Roman"/>
                <a:sym typeface="Times New Roman"/>
              </a:rPr>
              <a:t>Confusion matrix shows a clear diagonal, meaning most signs were classified correctly.</a:t>
            </a:r>
          </a:p>
          <a:p>
            <a:pPr marL="690879" lvl="1" indent="-345439" algn="just">
              <a:lnSpc>
                <a:spcPts val="4479"/>
              </a:lnSpc>
              <a:buFont typeface="Arial"/>
              <a:buChar char="•"/>
            </a:pPr>
            <a:r>
              <a:rPr lang="en-US" sz="3199">
                <a:solidFill>
                  <a:srgbClr val="252930"/>
                </a:solidFill>
                <a:latin typeface="Times New Roman"/>
                <a:ea typeface="Times New Roman"/>
                <a:cs typeface="Times New Roman"/>
                <a:sym typeface="Times New Roman"/>
              </a:rPr>
              <a:t>Several alphabets (A, B, D, E, F, G, L, R, S, V, X, Z) achieved near-perfect accuracy.</a:t>
            </a:r>
          </a:p>
          <a:p>
            <a:pPr marL="690879" lvl="1" indent="-345439" algn="just">
              <a:lnSpc>
                <a:spcPts val="4479"/>
              </a:lnSpc>
              <a:buFont typeface="Arial"/>
              <a:buChar char="•"/>
            </a:pPr>
            <a:r>
              <a:rPr lang="en-US" sz="3199">
                <a:solidFill>
                  <a:srgbClr val="252930"/>
                </a:solidFill>
                <a:latin typeface="Times New Roman"/>
                <a:ea typeface="Times New Roman"/>
                <a:cs typeface="Times New Roman"/>
                <a:sym typeface="Times New Roman"/>
              </a:rPr>
              <a:t>Minor errors occurred only in visually similar gestures like C–I, H–G/K, and U–P.</a:t>
            </a:r>
          </a:p>
          <a:p>
            <a:pPr marL="690879" lvl="1" indent="-345439" algn="just">
              <a:lnSpc>
                <a:spcPts val="4479"/>
              </a:lnSpc>
              <a:buFont typeface="Arial"/>
              <a:buChar char="•"/>
            </a:pPr>
            <a:r>
              <a:rPr lang="en-US" sz="3199">
                <a:solidFill>
                  <a:srgbClr val="252930"/>
                </a:solidFill>
                <a:latin typeface="Times New Roman"/>
                <a:ea typeface="Times New Roman"/>
                <a:cs typeface="Times New Roman"/>
                <a:sym typeface="Times New Roman"/>
              </a:rPr>
              <a:t>Model handles variations in lighting, angles, and backgrounds effectively.</a:t>
            </a:r>
          </a:p>
          <a:p>
            <a:pPr marL="690879" lvl="1" indent="-345439" algn="just">
              <a:lnSpc>
                <a:spcPts val="4479"/>
              </a:lnSpc>
              <a:buFont typeface="Arial"/>
              <a:buChar char="•"/>
            </a:pPr>
            <a:r>
              <a:rPr lang="en-US" sz="3199">
                <a:solidFill>
                  <a:srgbClr val="252930"/>
                </a:solidFill>
                <a:latin typeface="Times New Roman"/>
                <a:ea typeface="Times New Roman"/>
                <a:cs typeface="Times New Roman"/>
                <a:sym typeface="Times New Roman"/>
              </a:rPr>
              <a:t>Shows good generalization on validation data with stable predictions.</a:t>
            </a:r>
          </a:p>
          <a:p>
            <a:pPr marL="690879" lvl="1" indent="-345439" algn="just">
              <a:lnSpc>
                <a:spcPts val="4479"/>
              </a:lnSpc>
              <a:buFont typeface="Arial"/>
              <a:buChar char="•"/>
            </a:pPr>
            <a:r>
              <a:rPr lang="en-US" sz="3199">
                <a:solidFill>
                  <a:srgbClr val="252930"/>
                </a:solidFill>
                <a:latin typeface="Times New Roman"/>
                <a:ea typeface="Times New Roman"/>
                <a:cs typeface="Times New Roman"/>
                <a:sym typeface="Times New Roman"/>
              </a:rPr>
              <a:t>Overall, the system is reliable, accurate, and suitable for real ISL alphabet recognition.</a:t>
            </a:r>
          </a:p>
          <a:p>
            <a:pPr algn="just">
              <a:lnSpc>
                <a:spcPts val="4479"/>
              </a:lnSpc>
            </a:pPr>
            <a:endParaRPr lang="en-US" sz="3199">
              <a:solidFill>
                <a:srgbClr val="252930"/>
              </a:solidFill>
              <a:latin typeface="Times New Roman"/>
              <a:ea typeface="Times New Roman"/>
              <a:cs typeface="Times New Roman"/>
              <a:sym typeface="Times New Roman"/>
            </a:endParaRPr>
          </a:p>
        </p:txBody>
      </p:sp>
      <p:sp>
        <p:nvSpPr>
          <p:cNvPr id="3" name="TextBox 3"/>
          <p:cNvSpPr txBox="1"/>
          <p:nvPr/>
        </p:nvSpPr>
        <p:spPr>
          <a:xfrm>
            <a:off x="3086100" y="1012824"/>
            <a:ext cx="10240278" cy="920751"/>
          </a:xfrm>
          <a:prstGeom prst="rect">
            <a:avLst/>
          </a:prstGeom>
        </p:spPr>
        <p:txBody>
          <a:bodyPr lIns="0" tIns="0" rIns="0" bIns="0" rtlCol="0" anchor="t">
            <a:spAutoFit/>
          </a:bodyPr>
          <a:lstStyle/>
          <a:p>
            <a:pPr algn="ctr">
              <a:lnSpc>
                <a:spcPts val="6400"/>
              </a:lnSpc>
            </a:pPr>
            <a:r>
              <a:rPr lang="en-US" sz="8000" b="1">
                <a:solidFill>
                  <a:srgbClr val="252930"/>
                </a:solidFill>
                <a:latin typeface="Maven Pro Bold"/>
                <a:ea typeface="Maven Pro Bold"/>
                <a:cs typeface="Maven Pro Bold"/>
                <a:sym typeface="Maven Pro Bold"/>
              </a:rPr>
              <a:t>OVERALL ANALYSIS</a:t>
            </a:r>
          </a:p>
        </p:txBody>
      </p:sp>
      <p:sp>
        <p:nvSpPr>
          <p:cNvPr id="4" name="Freeform 4"/>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rot="-5400000">
            <a:off x="1799290" y="900019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1028700" y="2778217"/>
            <a:ext cx="15702973" cy="6186170"/>
          </a:xfrm>
          <a:prstGeom prst="rect">
            <a:avLst/>
          </a:prstGeom>
        </p:spPr>
        <p:txBody>
          <a:bodyPr lIns="0" tIns="0" rIns="0" bIns="0" rtlCol="0" anchor="t">
            <a:spAutoFit/>
          </a:bodyPr>
          <a:lstStyle/>
          <a:p>
            <a:pPr marL="690879" lvl="1" indent="-345439" algn="just">
              <a:lnSpc>
                <a:spcPts val="4479"/>
              </a:lnSpc>
              <a:buFont typeface="Arial"/>
              <a:buChar char="•"/>
            </a:pPr>
            <a:r>
              <a:rPr lang="en-US" sz="3199" b="1">
                <a:solidFill>
                  <a:srgbClr val="252930"/>
                </a:solidFill>
                <a:latin typeface="Times New Roman Bold"/>
                <a:ea typeface="Times New Roman Bold"/>
                <a:cs typeface="Times New Roman Bold"/>
                <a:sym typeface="Times New Roman Bold"/>
              </a:rPr>
              <a:t>Expand the Dataset:</a:t>
            </a:r>
            <a:r>
              <a:rPr lang="en-US" sz="3199">
                <a:solidFill>
                  <a:srgbClr val="252930"/>
                </a:solidFill>
                <a:latin typeface="Times New Roman"/>
                <a:ea typeface="Times New Roman"/>
                <a:cs typeface="Times New Roman"/>
                <a:sym typeface="Times New Roman"/>
              </a:rPr>
              <a:t> Add more images for low-performing classes (C, H, I, U) and include diverse lighting, angles, and hand shapes.</a:t>
            </a:r>
          </a:p>
          <a:p>
            <a:pPr marL="690879" lvl="1" indent="-345439" algn="just">
              <a:lnSpc>
                <a:spcPts val="4479"/>
              </a:lnSpc>
              <a:buFont typeface="Arial"/>
              <a:buChar char="•"/>
            </a:pPr>
            <a:r>
              <a:rPr lang="en-US" sz="3199" b="1">
                <a:solidFill>
                  <a:srgbClr val="252930"/>
                </a:solidFill>
                <a:latin typeface="Times New Roman Bold"/>
                <a:ea typeface="Times New Roman Bold"/>
                <a:cs typeface="Times New Roman Bold"/>
                <a:sym typeface="Times New Roman Bold"/>
              </a:rPr>
              <a:t>Use Advanced Models:</a:t>
            </a:r>
            <a:r>
              <a:rPr lang="en-US" sz="3199">
                <a:solidFill>
                  <a:srgbClr val="252930"/>
                </a:solidFill>
                <a:latin typeface="Times New Roman"/>
                <a:ea typeface="Times New Roman"/>
                <a:cs typeface="Times New Roman"/>
                <a:sym typeface="Times New Roman"/>
              </a:rPr>
              <a:t> Explore Vision Transformers (ViT), EfficientNet, or hybrid architectures to improve accuracy.</a:t>
            </a:r>
          </a:p>
          <a:p>
            <a:pPr marL="690879" lvl="1" indent="-345439" algn="just">
              <a:lnSpc>
                <a:spcPts val="4479"/>
              </a:lnSpc>
              <a:buFont typeface="Arial"/>
              <a:buChar char="•"/>
            </a:pPr>
            <a:r>
              <a:rPr lang="en-US" sz="3199" b="1">
                <a:solidFill>
                  <a:srgbClr val="252930"/>
                </a:solidFill>
                <a:latin typeface="Times New Roman Bold"/>
                <a:ea typeface="Times New Roman Bold"/>
                <a:cs typeface="Times New Roman Bold"/>
                <a:sym typeface="Times New Roman Bold"/>
              </a:rPr>
              <a:t>Real-Time Video Recognition:</a:t>
            </a:r>
            <a:r>
              <a:rPr lang="en-US" sz="3199">
                <a:solidFill>
                  <a:srgbClr val="252930"/>
                </a:solidFill>
                <a:latin typeface="Times New Roman"/>
                <a:ea typeface="Times New Roman"/>
                <a:cs typeface="Times New Roman"/>
                <a:sym typeface="Times New Roman"/>
              </a:rPr>
              <a:t> Extend from static image classification to live gesture tracking using OpenCV or MediaPipe.</a:t>
            </a:r>
          </a:p>
          <a:p>
            <a:pPr marL="690879" lvl="1" indent="-345439" algn="just">
              <a:lnSpc>
                <a:spcPts val="4479"/>
              </a:lnSpc>
              <a:buFont typeface="Arial"/>
              <a:buChar char="•"/>
            </a:pPr>
            <a:r>
              <a:rPr lang="en-US" sz="3199" b="1">
                <a:solidFill>
                  <a:srgbClr val="252930"/>
                </a:solidFill>
                <a:latin typeface="Times New Roman Bold"/>
                <a:ea typeface="Times New Roman Bold"/>
                <a:cs typeface="Times New Roman Bold"/>
                <a:sym typeface="Times New Roman Bold"/>
              </a:rPr>
              <a:t>Word &amp; Sentence Recognition:</a:t>
            </a:r>
            <a:r>
              <a:rPr lang="en-US" sz="3199">
                <a:solidFill>
                  <a:srgbClr val="252930"/>
                </a:solidFill>
                <a:latin typeface="Times New Roman"/>
                <a:ea typeface="Times New Roman"/>
                <a:cs typeface="Times New Roman"/>
                <a:sym typeface="Times New Roman"/>
              </a:rPr>
              <a:t> Move beyond alphabets to full ISL words or continuous signing for practical communication.</a:t>
            </a:r>
          </a:p>
          <a:p>
            <a:pPr marL="690879" lvl="1" indent="-345439" algn="just">
              <a:lnSpc>
                <a:spcPts val="4479"/>
              </a:lnSpc>
              <a:buFont typeface="Arial"/>
              <a:buChar char="•"/>
            </a:pPr>
            <a:r>
              <a:rPr lang="en-US" sz="3199" b="1">
                <a:solidFill>
                  <a:srgbClr val="252930"/>
                </a:solidFill>
                <a:latin typeface="Times New Roman Bold"/>
                <a:ea typeface="Times New Roman Bold"/>
                <a:cs typeface="Times New Roman Bold"/>
                <a:sym typeface="Times New Roman Bold"/>
              </a:rPr>
              <a:t>Mobile/Web Deployment:</a:t>
            </a:r>
            <a:r>
              <a:rPr lang="en-US" sz="3199">
                <a:solidFill>
                  <a:srgbClr val="252930"/>
                </a:solidFill>
                <a:latin typeface="Times New Roman"/>
                <a:ea typeface="Times New Roman"/>
                <a:cs typeface="Times New Roman"/>
                <a:sym typeface="Times New Roman"/>
              </a:rPr>
              <a:t> Convert the model to ONNX or TensorFlow Lite for fast, real-time use on smartphones and browsers.</a:t>
            </a:r>
          </a:p>
          <a:p>
            <a:pPr algn="just">
              <a:lnSpc>
                <a:spcPts val="4479"/>
              </a:lnSpc>
            </a:pPr>
            <a:endParaRPr lang="en-US" sz="3199">
              <a:solidFill>
                <a:srgbClr val="252930"/>
              </a:solidFill>
              <a:latin typeface="Times New Roman"/>
              <a:ea typeface="Times New Roman"/>
              <a:cs typeface="Times New Roman"/>
              <a:sym typeface="Times New Roman"/>
            </a:endParaRPr>
          </a:p>
        </p:txBody>
      </p:sp>
      <p:sp>
        <p:nvSpPr>
          <p:cNvPr id="3" name="TextBox 3"/>
          <p:cNvSpPr txBox="1"/>
          <p:nvPr/>
        </p:nvSpPr>
        <p:spPr>
          <a:xfrm>
            <a:off x="3232153" y="1012824"/>
            <a:ext cx="10240278" cy="920751"/>
          </a:xfrm>
          <a:prstGeom prst="rect">
            <a:avLst/>
          </a:prstGeom>
        </p:spPr>
        <p:txBody>
          <a:bodyPr lIns="0" tIns="0" rIns="0" bIns="0" rtlCol="0" anchor="t">
            <a:spAutoFit/>
          </a:bodyPr>
          <a:lstStyle/>
          <a:p>
            <a:pPr algn="ctr">
              <a:lnSpc>
                <a:spcPts val="6400"/>
              </a:lnSpc>
            </a:pPr>
            <a:r>
              <a:rPr lang="en-US" sz="8000" b="1">
                <a:solidFill>
                  <a:srgbClr val="252930"/>
                </a:solidFill>
                <a:latin typeface="Maven Pro Bold"/>
                <a:ea typeface="Maven Pro Bold"/>
                <a:cs typeface="Maven Pro Bold"/>
                <a:sym typeface="Maven Pro Bold"/>
              </a:rPr>
              <a:t>FUTURE WORK</a:t>
            </a:r>
          </a:p>
        </p:txBody>
      </p:sp>
      <p:sp>
        <p:nvSpPr>
          <p:cNvPr id="4" name="Freeform 4"/>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rot="-5400000">
            <a:off x="1799290" y="900019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1616476" y="2508828"/>
            <a:ext cx="15490237" cy="6384290"/>
          </a:xfrm>
          <a:prstGeom prst="rect">
            <a:avLst/>
          </a:prstGeom>
        </p:spPr>
        <p:txBody>
          <a:bodyPr lIns="0" tIns="0" rIns="0" bIns="0" rtlCol="0" anchor="t">
            <a:spAutoFit/>
          </a:bodyPr>
          <a:lstStyle/>
          <a:p>
            <a:pPr marL="707070" lvl="1" indent="-353535" algn="just">
              <a:lnSpc>
                <a:spcPts val="4584"/>
              </a:lnSpc>
              <a:buFont typeface="Arial"/>
              <a:buChar char="•"/>
            </a:pPr>
            <a:r>
              <a:rPr lang="en-US" sz="3274">
                <a:solidFill>
                  <a:srgbClr val="252D37"/>
                </a:solidFill>
                <a:latin typeface="Times New Roman"/>
                <a:ea typeface="Times New Roman"/>
                <a:cs typeface="Times New Roman"/>
                <a:sym typeface="Times New Roman"/>
              </a:rPr>
              <a:t>The project successfully built an effective ISL alphabet recognition system using a pretrained ResNet-18 model.</a:t>
            </a:r>
          </a:p>
          <a:p>
            <a:pPr marL="707070" lvl="1" indent="-353535" algn="just">
              <a:lnSpc>
                <a:spcPts val="4584"/>
              </a:lnSpc>
              <a:buFont typeface="Arial"/>
              <a:buChar char="•"/>
            </a:pPr>
            <a:r>
              <a:rPr lang="en-US" sz="3274">
                <a:solidFill>
                  <a:srgbClr val="252D37"/>
                </a:solidFill>
                <a:latin typeface="Times New Roman"/>
                <a:ea typeface="Times New Roman"/>
                <a:cs typeface="Times New Roman"/>
                <a:sym typeface="Times New Roman"/>
              </a:rPr>
              <a:t>With an overall accuracy of 93.84%, the model reliably identifies 26 static hand gestures and shows strong general performance across most classes.</a:t>
            </a:r>
          </a:p>
          <a:p>
            <a:pPr marL="707070" lvl="1" indent="-353535" algn="just">
              <a:lnSpc>
                <a:spcPts val="4584"/>
              </a:lnSpc>
              <a:buFont typeface="Arial"/>
              <a:buChar char="•"/>
            </a:pPr>
            <a:r>
              <a:rPr lang="en-US" sz="3274">
                <a:solidFill>
                  <a:srgbClr val="252D37"/>
                </a:solidFill>
                <a:latin typeface="Times New Roman"/>
                <a:ea typeface="Times New Roman"/>
                <a:cs typeface="Times New Roman"/>
                <a:sym typeface="Times New Roman"/>
              </a:rPr>
              <a:t>Minor errors occurred only in visually similar gestures, but overall predictions were stable and consistent.</a:t>
            </a:r>
          </a:p>
          <a:p>
            <a:pPr marL="707070" lvl="1" indent="-353535" algn="just">
              <a:lnSpc>
                <a:spcPts val="4584"/>
              </a:lnSpc>
              <a:buFont typeface="Arial"/>
              <a:buChar char="•"/>
            </a:pPr>
            <a:r>
              <a:rPr lang="en-US" sz="3274">
                <a:solidFill>
                  <a:srgbClr val="252D37"/>
                </a:solidFill>
                <a:latin typeface="Times New Roman"/>
                <a:ea typeface="Times New Roman"/>
                <a:cs typeface="Times New Roman"/>
                <a:sym typeface="Times New Roman"/>
              </a:rPr>
              <a:t>The system demonstrates that deep learning–based approaches can significantly support communication for individuals using Indian Sign Language.</a:t>
            </a:r>
          </a:p>
          <a:p>
            <a:pPr marL="707070" lvl="1" indent="-353535" algn="just">
              <a:lnSpc>
                <a:spcPts val="4584"/>
              </a:lnSpc>
              <a:buFont typeface="Arial"/>
              <a:buChar char="•"/>
            </a:pPr>
            <a:r>
              <a:rPr lang="en-US" sz="3274">
                <a:solidFill>
                  <a:srgbClr val="252D37"/>
                </a:solidFill>
                <a:latin typeface="Times New Roman"/>
                <a:ea typeface="Times New Roman"/>
                <a:cs typeface="Times New Roman"/>
                <a:sym typeface="Times New Roman"/>
              </a:rPr>
              <a:t>The end-to-end workflow—from data preprocessing to deployment via Gradio—proves the model’s readiness for real-world use and further expansion.</a:t>
            </a:r>
          </a:p>
          <a:p>
            <a:pPr algn="just">
              <a:lnSpc>
                <a:spcPts val="4584"/>
              </a:lnSpc>
            </a:pPr>
            <a:endParaRPr lang="en-US" sz="3274">
              <a:solidFill>
                <a:srgbClr val="252D37"/>
              </a:solidFill>
              <a:latin typeface="Times New Roman"/>
              <a:ea typeface="Times New Roman"/>
              <a:cs typeface="Times New Roman"/>
              <a:sym typeface="Times New Roman"/>
            </a:endParaRPr>
          </a:p>
        </p:txBody>
      </p:sp>
      <p:sp>
        <p:nvSpPr>
          <p:cNvPr id="3" name="TextBox 3"/>
          <p:cNvSpPr txBox="1"/>
          <p:nvPr/>
        </p:nvSpPr>
        <p:spPr>
          <a:xfrm>
            <a:off x="4929090" y="891413"/>
            <a:ext cx="8865010" cy="917406"/>
          </a:xfrm>
          <a:prstGeom prst="rect">
            <a:avLst/>
          </a:prstGeom>
        </p:spPr>
        <p:txBody>
          <a:bodyPr lIns="0" tIns="0" rIns="0" bIns="0" rtlCol="0" anchor="t">
            <a:spAutoFit/>
          </a:bodyPr>
          <a:lstStyle/>
          <a:p>
            <a:pPr algn="ctr">
              <a:lnSpc>
                <a:spcPts val="6497"/>
              </a:lnSpc>
            </a:pPr>
            <a:r>
              <a:rPr lang="en-US" sz="8121" b="1">
                <a:solidFill>
                  <a:srgbClr val="252D37"/>
                </a:solidFill>
                <a:latin typeface="Maven Pro Bold"/>
                <a:ea typeface="Maven Pro Bold"/>
                <a:cs typeface="Maven Pro Bold"/>
                <a:sym typeface="Maven Pro Bold"/>
              </a:rPr>
              <a:t>CONCLUSION</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754150" y="3832722"/>
            <a:ext cx="12779699" cy="1791414"/>
          </a:xfrm>
          <a:prstGeom prst="rect">
            <a:avLst/>
          </a:prstGeom>
        </p:spPr>
        <p:txBody>
          <a:bodyPr lIns="0" tIns="0" rIns="0" bIns="0" rtlCol="0" anchor="t">
            <a:spAutoFit/>
          </a:bodyPr>
          <a:lstStyle/>
          <a:p>
            <a:pPr algn="ctr">
              <a:lnSpc>
                <a:spcPts val="12435"/>
              </a:lnSpc>
            </a:pPr>
            <a:r>
              <a:rPr lang="en-US" sz="15544" b="1">
                <a:solidFill>
                  <a:srgbClr val="252D37"/>
                </a:solidFill>
                <a:latin typeface="Maven Pro Bold"/>
                <a:ea typeface="Maven Pro Bold"/>
                <a:cs typeface="Maven Pro Bold"/>
                <a:sym typeface="Maven Pro Bold"/>
              </a:rPr>
              <a:t>Thank You</a:t>
            </a:r>
          </a:p>
        </p:txBody>
      </p:sp>
      <p:sp>
        <p:nvSpPr>
          <p:cNvPr id="3" name="TextBox 3"/>
          <p:cNvSpPr txBox="1"/>
          <p:nvPr/>
        </p:nvSpPr>
        <p:spPr>
          <a:xfrm>
            <a:off x="4243940" y="5955758"/>
            <a:ext cx="9800119" cy="790235"/>
          </a:xfrm>
          <a:prstGeom prst="rect">
            <a:avLst/>
          </a:prstGeom>
        </p:spPr>
        <p:txBody>
          <a:bodyPr lIns="0" tIns="0" rIns="0" bIns="0" rtlCol="0" anchor="t">
            <a:spAutoFit/>
          </a:bodyPr>
          <a:lstStyle/>
          <a:p>
            <a:pPr algn="ctr">
              <a:lnSpc>
                <a:spcPts val="5926"/>
              </a:lnSpc>
            </a:pPr>
            <a:r>
              <a:rPr lang="en-US" sz="5926">
                <a:solidFill>
                  <a:srgbClr val="252D37"/>
                </a:solidFill>
                <a:latin typeface="Maven Pro"/>
                <a:ea typeface="Maven Pro"/>
                <a:cs typeface="Maven Pro"/>
                <a:sym typeface="Maven Pro"/>
              </a:rPr>
              <a:t>For your attention</a:t>
            </a:r>
          </a:p>
        </p:txBody>
      </p:sp>
      <p:sp>
        <p:nvSpPr>
          <p:cNvPr id="4" name="Freeform 4"/>
          <p:cNvSpPr/>
          <p:nvPr/>
        </p:nvSpPr>
        <p:spPr>
          <a:xfrm>
            <a:off x="0" y="6974593"/>
            <a:ext cx="809919" cy="3227938"/>
          </a:xfrm>
          <a:custGeom>
            <a:avLst/>
            <a:gdLst/>
            <a:ahLst/>
            <a:cxnLst/>
            <a:rect l="l" t="t" r="r" b="b"/>
            <a:pathLst>
              <a:path w="809919" h="3227938">
                <a:moveTo>
                  <a:pt x="0" y="0"/>
                </a:moveTo>
                <a:lnTo>
                  <a:pt x="809919" y="0"/>
                </a:lnTo>
                <a:lnTo>
                  <a:pt x="809919" y="3227938"/>
                </a:lnTo>
                <a:lnTo>
                  <a:pt x="0" y="32279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613969" y="8304597"/>
            <a:ext cx="4261740" cy="2130870"/>
          </a:xfrm>
          <a:custGeom>
            <a:avLst/>
            <a:gdLst/>
            <a:ahLst/>
            <a:cxnLst/>
            <a:rect l="l" t="t" r="r" b="b"/>
            <a:pathLst>
              <a:path w="4261740" h="2130870">
                <a:moveTo>
                  <a:pt x="0" y="0"/>
                </a:moveTo>
                <a:lnTo>
                  <a:pt x="4261740" y="0"/>
                </a:lnTo>
                <a:lnTo>
                  <a:pt x="4261740" y="2130870"/>
                </a:lnTo>
                <a:lnTo>
                  <a:pt x="0" y="21308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rot="-10800000">
            <a:off x="17582856" y="118636"/>
            <a:ext cx="809919" cy="3227938"/>
          </a:xfrm>
          <a:custGeom>
            <a:avLst/>
            <a:gdLst/>
            <a:ahLst/>
            <a:cxnLst/>
            <a:rect l="l" t="t" r="r" b="b"/>
            <a:pathLst>
              <a:path w="809919" h="3227938">
                <a:moveTo>
                  <a:pt x="0" y="0"/>
                </a:moveTo>
                <a:lnTo>
                  <a:pt x="809919" y="0"/>
                </a:lnTo>
                <a:lnTo>
                  <a:pt x="809919" y="3227938"/>
                </a:lnTo>
                <a:lnTo>
                  <a:pt x="0" y="32279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rot="-10800000">
            <a:off x="12517066" y="-114300"/>
            <a:ext cx="4261740" cy="2130870"/>
          </a:xfrm>
          <a:custGeom>
            <a:avLst/>
            <a:gdLst/>
            <a:ahLst/>
            <a:cxnLst/>
            <a:rect l="l" t="t" r="r" b="b"/>
            <a:pathLst>
              <a:path w="4261740" h="2130870">
                <a:moveTo>
                  <a:pt x="0" y="0"/>
                </a:moveTo>
                <a:lnTo>
                  <a:pt x="4261740" y="0"/>
                </a:lnTo>
                <a:lnTo>
                  <a:pt x="4261740" y="2130870"/>
                </a:lnTo>
                <a:lnTo>
                  <a:pt x="0" y="21308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878</Words>
  <Application>Microsoft Office PowerPoint</Application>
  <PresentationFormat>Custom</PresentationFormat>
  <Paragraphs>58</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Times New Roman Bold</vt:lpstr>
      <vt:lpstr>Maven Pro Bold</vt:lpstr>
      <vt:lpstr>Maven Pro</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Ivory Black Simple Geometric Research Project Presentation</dc:title>
  <dc:creator>Ishita Joshi</dc:creator>
  <cp:lastModifiedBy>ISHITA JOSHI</cp:lastModifiedBy>
  <cp:revision>2</cp:revision>
  <dcterms:created xsi:type="dcterms:W3CDTF">2006-08-16T00:00:00Z</dcterms:created>
  <dcterms:modified xsi:type="dcterms:W3CDTF">2025-11-29T07:27:32Z</dcterms:modified>
  <dc:identifier>DAG5Qy1avKw</dc:identifier>
</cp:coreProperties>
</file>